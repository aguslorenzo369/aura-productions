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Abrir en silencio unos segundos antes de hablar: la lámina ya dice el tono.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respirar la frase. No agregar nada: es la tesis de toda la charla.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Definición corta. El dato clave es el cambio de combustible, no las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círculo que se vacía reemplaza a las flechas: la escala es continua, no por bloques.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emojis: en la lámina que sostiene la autoridad, cada adorno 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hallazgos, uno por columna. Antes eran cajas ilegibles: ahora el texto es el protagonista.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Bisagra del deck: acá se pasa de la fisiología a la experiencia.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Silencio real de 30 a 60 segundos. No hablar sobre la lámina: dejarla hacer su trabajo.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práctico. La rotura del ayuno es donde más se equivoca la gente: insistir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AGREGADA. No estaba en el original: da responsabilidad y credibilidad. Sacala si el marco de la charla ya la cubre.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Bajar la práctica a la vida cotidiana antes del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Dejar la lámina en pantalla mientras se abren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1554480"/>
            <a:ext cx="3749040" cy="374904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1051560"/>
            <a:ext cx="4754880" cy="4754880"/>
          </a:xfrm>
          <a:prstGeom prst="ellipse">
            <a:avLst/>
          </a:prstGeom>
          <a:solidFill>
            <a:srgbClr val="0B0A09">
              <a:alpha val="0"/>
            </a:srgbClr>
          </a:solidFill>
          <a:ln w="6350">
            <a:solidFill>
              <a:srgbClr val="1A1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2194560"/>
            <a:ext cx="2468880" cy="2468880"/>
          </a:xfrm>
          <a:prstGeom prst="ellipse">
            <a:avLst/>
          </a:prstGeom>
          <a:solidFill>
            <a:srgbClr val="15120D"/>
          </a:solidFill>
          <a:ln w="12700">
            <a:solidFill>
              <a:srgbClr val="15120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194560"/>
            <a:ext cx="2468880" cy="246888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7A64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PRÁCTICA DE VACÍO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Ayuno</a:t>
            </a:r>
            <a:endParaRPr lang="en-US" sz="6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886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Vaciar el cuerpo, expandir la conciencia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8768" y="960120"/>
            <a:ext cx="4480560" cy="448056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1A1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2514600"/>
            <a:ext cx="92628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2000"/>
              </a:lnSpc>
              <a:buNone/>
            </a:pPr>
            <a:r>
              <a:rPr lang="en-US" sz="27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ayuno no es ausencia, </a:t>
            </a:r>
            <a:pPr algn="ctr" indent="0" marL="0">
              <a:lnSpc>
                <a:spcPct val="152000"/>
              </a:lnSpc>
              <a:buNone/>
            </a:pPr>
            <a:r>
              <a:rPr lang="en-US" sz="2700" i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pausa</a:t>
            </a:r>
            <a:pPr algn="ctr" indent="0" marL="0">
              <a:lnSpc>
                <a:spcPct val="152000"/>
              </a:lnSpc>
              <a:buNone/>
            </a:pPr>
            <a:r>
              <a:rPr lang="en-US" sz="27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700" dirty="0"/>
          </a:p>
          <a:p>
            <a:pPr algn="ctr" indent="0" marL="0">
              <a:lnSpc>
                <a:spcPct val="152000"/>
              </a:lnSpc>
              <a:buNone/>
            </a:pPr>
            <a:r>
              <a:rPr lang="en-US" sz="27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silencio del cuerpo, la energía se reorganiza</a:t>
            </a:r>
            <a:endParaRPr lang="en-US" sz="2700" dirty="0"/>
          </a:p>
          <a:p>
            <a:pPr algn="ctr" indent="0" marL="0">
              <a:lnSpc>
                <a:spcPct val="152000"/>
              </a:lnSpc>
              <a:buNone/>
            </a:pPr>
            <a:r>
              <a:rPr lang="en-US" sz="27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la conciencia se expande.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206240" cy="420624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1A1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ayuno prolongado?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32304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de comer durante más de 24 horas, el punto en el que el cuerpo </a:t>
            </a:r>
            <a:pPr indent="0" marL="0">
              <a:lnSpc>
                <a:spcPct val="155000"/>
              </a:lnSpc>
              <a:buNone/>
            </a:pPr>
            <a:r>
              <a:rPr lang="en-US" sz="1400" b="1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fuente energética</a:t>
            </a:r>
            <a:pPr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 la glucosa a las grasas y las cetonas.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062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propósito: </a:t>
            </a:r>
            <a:pPr indent="0" marL="0">
              <a:buNone/>
            </a:pPr>
            <a:r>
              <a:rPr lang="en-US" sz="2300" i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regeneración y claridad</a:t>
            </a:r>
            <a:pPr indent="0" marL="0">
              <a:buNone/>
            </a:pPr>
            <a:r>
              <a:rPr lang="en-US" sz="23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FISIOLÓGICAS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cuerpo se vacía por tramos.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679192"/>
            <a:ext cx="1133856" cy="1133856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697480"/>
            <a:ext cx="1097280" cy="1097280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123944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– 24 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471416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Agota el glucógeno y entra en cetosis.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50844" y="2679192"/>
            <a:ext cx="1133856" cy="1133856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2868" y="2871216"/>
            <a:ext cx="749808" cy="74980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0844" y="4123944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– 48 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0844" y="4471416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la producción de cetonas.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95848" y="2679192"/>
            <a:ext cx="1133856" cy="1133856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2464" y="3035808"/>
            <a:ext cx="420624" cy="420624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5848" y="4123944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– 72 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4471416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autofagia: reparación celular profunda.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40851" y="2679192"/>
            <a:ext cx="1133856" cy="1133856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30055" y="3168396"/>
            <a:ext cx="155448" cy="155448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0851" y="4123944"/>
            <a:ext cx="2042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+ 72 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40851" y="4471416"/>
            <a:ext cx="20420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Regeneración inmunológica y hormonal.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CIENTÍFICO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muestra la evidencia.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697480"/>
            <a:ext cx="82296" cy="8229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Yoshinori Ohsumi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Demostró el mecanismo de la autofagia. Premio Nobel de Medicina, 2016.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22415" y="2697480"/>
            <a:ext cx="82296" cy="8229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96735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Valter Longo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796735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Observó regeneración inmune tras tres días de ayuno.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05840" y="4315968"/>
            <a:ext cx="82296" cy="8229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Mattson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5902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Documentó protección cerebral y aumento del BDNF.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22415" y="4315968"/>
            <a:ext cx="82296" cy="82296"/>
          </a:xfrm>
          <a:prstGeom prst="ellipse">
            <a:avLst/>
          </a:prstGeom>
          <a:solidFill>
            <a:srgbClr val="C8A45D"/>
          </a:solidFill>
          <a:ln w="12700">
            <a:solidFill>
              <a:srgbClr val="C8A4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96735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Luigi Fontana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796735" y="459028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Registró mejoras metabólicas asociadas a longevidad.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Y HALLAZGOS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pasó cuando se midió.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6974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USC · 2014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81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Regeneración inmunológica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557016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que ayunaron 72 h antes de quimioterapia mostraron menos daño inmunológico y una recuperación más rápida.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8084" y="2697480"/>
            <a:ext cx="7315" cy="1783080"/>
          </a:xfrm>
          <a:prstGeom prst="rect">
            <a:avLst/>
          </a:prstGeom>
          <a:solidFill>
            <a:srgbClr val="242019"/>
          </a:solidFill>
          <a:ln w="12700">
            <a:solidFill>
              <a:srgbClr val="2420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1368" y="26974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· 2018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41368" y="3081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metabólico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41368" y="3557016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con resistencia a la insulina hicieron ayunos supervisados de 3 a 5 días y normalizaron glucosa y presión sin fármacos.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63611" y="2697480"/>
            <a:ext cx="7315" cy="1783080"/>
          </a:xfrm>
          <a:prstGeom prst="rect">
            <a:avLst/>
          </a:prstGeom>
          <a:solidFill>
            <a:srgbClr val="242019"/>
          </a:solidFill>
          <a:ln w="12700">
            <a:solidFill>
              <a:srgbClr val="24201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76895" y="26974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· 2019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76895" y="30815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Claridad mental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076895" y="3557016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 36 h de ayuno, la dopamina y la noradrenalina aumentan: el cerebro entra en estado de alerta lúcida.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691640"/>
            <a:ext cx="3931920" cy="393192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69480" y="1143000"/>
            <a:ext cx="5029200" cy="5029200"/>
          </a:xfrm>
          <a:prstGeom prst="ellipse">
            <a:avLst/>
          </a:prstGeom>
          <a:solidFill>
            <a:srgbClr val="0B0A09">
              <a:alpha val="0"/>
            </a:srgbClr>
          </a:solidFill>
          <a:ln w="6350">
            <a:solidFill>
              <a:srgbClr val="1A17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DIMENSIÓN EMOCIONAL Y ESPIRITUAL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3736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ayuno limpia</a:t>
            </a:r>
            <a:endParaRPr lang="en-US" sz="3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que el cuerpo</a:t>
            </a:r>
            <a:pPr indent="0" marL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7490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vacío emergen memorias, emociones y comprensión. Es una práctica de humildad y entrega: no se trata de resistir, sino de soltar.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7448" y="1920240"/>
            <a:ext cx="2743200" cy="274320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33088" y="1325880"/>
            <a:ext cx="3931920" cy="3931920"/>
          </a:xfrm>
          <a:prstGeom prst="ellipse">
            <a:avLst/>
          </a:prstGeom>
          <a:solidFill>
            <a:srgbClr val="0B0A09">
              <a:alpha val="0"/>
            </a:srgbClr>
          </a:solidFill>
          <a:ln w="6350">
            <a:solidFill>
              <a:srgbClr val="1A17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38728" y="731520"/>
            <a:ext cx="5120640" cy="5120640"/>
          </a:xfrm>
          <a:prstGeom prst="ellipse">
            <a:avLst/>
          </a:prstGeom>
          <a:solidFill>
            <a:srgbClr val="0B0A09">
              <a:alpha val="0"/>
            </a:srgbClr>
          </a:solidFill>
          <a:ln w="6350">
            <a:solidFill>
              <a:srgbClr val="1A171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355848" y="1371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40" kern="0" dirty="0">
                <a:solidFill>
                  <a:srgbClr val="7A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DE INTROSPECCIÓN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2743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6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Cierra los ojos.</a:t>
            </a:r>
            <a:endParaRPr lang="en-US" sz="2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26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Respira lento.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SOSTENER EL PROCESO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Sostener y volver.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0"/>
            <a:ext cx="3108960" cy="2011680"/>
          </a:xfrm>
          <a:prstGeom prst="rect">
            <a:avLst/>
          </a:prstGeom>
          <a:solidFill>
            <a:srgbClr val="13110F"/>
          </a:solidFill>
          <a:ln w="9525">
            <a:solidFill>
              <a:srgbClr val="2420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Hidratación, descanso y calma. Evitar estímulos intensos y esfuerzo físico exigente.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41368" y="2743200"/>
            <a:ext cx="3108960" cy="2011680"/>
          </a:xfrm>
          <a:prstGeom prst="rect">
            <a:avLst/>
          </a:prstGeom>
          <a:solidFill>
            <a:srgbClr val="13110F"/>
          </a:solidFill>
          <a:ln w="9525">
            <a:solidFill>
              <a:srgbClr val="24201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0712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romperlo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07128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consciencia: caldos, probióticos y grasas buenas. Nunca una comida abundante.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76895" y="2743200"/>
            <a:ext cx="3108960" cy="2011680"/>
          </a:xfrm>
          <a:prstGeom prst="rect">
            <a:avLst/>
          </a:prstGeom>
          <a:solidFill>
            <a:srgbClr val="13110F"/>
          </a:solidFill>
          <a:ln w="9525">
            <a:solidFill>
              <a:srgbClr val="24201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2655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6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442655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energía vuelve en pureza. Reintroducir alimentos de a poco, a lo largo del día.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657600" cy="365760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1A1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17043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no ayunar.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39572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ayuno de más de 72 horas requiere supervisión profesional. No es una práctica para cualquier cuerpo ni para cualquier momento.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3895344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3803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Embarazo y lactancia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3895344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3803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tipo 1 o medicación hipoglucemiante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462272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4370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Trastornos de la conducta alimentaria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4462272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3708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peso o desnutrición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5029200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4937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Insuficiencia renal o hepática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5029200"/>
            <a:ext cx="82296" cy="82296"/>
          </a:xfrm>
          <a:prstGeom prst="ellipse">
            <a:avLst/>
          </a:prstGeom>
          <a:solidFill>
            <a:srgbClr val="7A6435"/>
          </a:solidFill>
          <a:ln w="12700">
            <a:solidFill>
              <a:srgbClr val="7A64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937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D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Niños y adolescentes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743200"/>
            <a:ext cx="4389120" cy="438912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1A17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78638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40" kern="0" dirty="0">
                <a:solidFill>
                  <a:srgbClr val="C8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DIARIA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965960"/>
            <a:ext cx="9509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Ayunar no es huir del alimento:</a:t>
            </a:r>
            <a:endParaRPr lang="en-US" sz="3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redescubrir la saciedad interna</a:t>
            </a:r>
            <a:pPr indent="0" marL="0">
              <a:lnSpc>
                <a:spcPct val="130000"/>
              </a:lnSpc>
              <a:buNone/>
            </a:pPr>
            <a:r>
              <a:rPr lang="en-US" sz="3300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8862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E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pausas diarias recuerdan que el cuerpo es un templo de energía. No hace falta un ayuno largo para practicar el vacío.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62362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8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AYUNO · VACIAR EL CUERPO, EXPANDIR LA CONCIENCIA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271455" y="6236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60" kern="0" dirty="0">
                <a:solidFill>
                  <a:srgbClr val="555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7328" y="978408"/>
            <a:ext cx="4663440" cy="4663440"/>
          </a:xfrm>
          <a:prstGeom prst="ellipse">
            <a:avLst/>
          </a:prstGeom>
          <a:solidFill>
            <a:srgbClr val="0B0A09">
              <a:alpha val="0"/>
            </a:srgbClr>
          </a:solidFill>
          <a:ln w="9525">
            <a:solidFill>
              <a:srgbClr val="2C26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27248" y="338328"/>
            <a:ext cx="5943600" cy="5943600"/>
          </a:xfrm>
          <a:prstGeom prst="ellipse">
            <a:avLst/>
          </a:prstGeom>
          <a:solidFill>
            <a:srgbClr val="0B0A09">
              <a:alpha val="0"/>
            </a:srgbClr>
          </a:solidFill>
          <a:ln w="6350">
            <a:solidFill>
              <a:srgbClr val="1A17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70248" y="1234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0" dirty="0">
                <a:solidFill>
                  <a:srgbClr val="2C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8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788920"/>
            <a:ext cx="9262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dejas de alimentarte de materia,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comienzas a </a:t>
            </a:r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C8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nutrirte de energía</a:t>
            </a:r>
            <a:pPr algn="ctr" indent="0" marL="0">
              <a:lnSpc>
                <a:spcPct val="150000"/>
              </a:lnSpc>
              <a:buNone/>
            </a:pPr>
            <a:r>
              <a:rPr lang="en-US" sz="2800" i="1" dirty="0">
                <a:solidFill>
                  <a:srgbClr val="EDE6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48920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400" kern="0" dirty="0">
                <a:solidFill>
                  <a:srgbClr val="7A6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Ayuno — Vaciar el cuerpo, expandir la conciencia</dc:title>
  <dc:subject>PptxGenJS Presentation</dc:subject>
  <dc:creator>PptxGenJS</dc:creator>
  <cp:lastModifiedBy>PptxGenJS</cp:lastModifiedBy>
  <cp:revision>1</cp:revision>
  <dcterms:created xsi:type="dcterms:W3CDTF">2026-09-08T18:45:21Z</dcterms:created>
  <dcterms:modified xsi:type="dcterms:W3CDTF">2026-09-08T18:45:21Z</dcterms:modified>
</cp:coreProperties>
</file>